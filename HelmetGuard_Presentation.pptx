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/>
              <a:t>HelmetGuard: Safety Classification of Construction Site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Using synthetic and real data for helmet safety detection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Names  : Dan Koenkas – 322890542 , 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Nadav </a:t>
            </a:r>
            <a:r>
              <a:rPr lang="en-US" sz="1800" err="1"/>
              <a:t>Golche</a:t>
            </a:r>
            <a:r>
              <a:rPr lang="en-US" sz="1800"/>
              <a:t> </a:t>
            </a:r>
            <a:r>
              <a:rPr lang="en-US" sz="1800" err="1"/>
              <a:t>Faragian</a:t>
            </a:r>
            <a:r>
              <a:rPr lang="en-US" sz="1800"/>
              <a:t> - 212166235</a:t>
            </a:r>
          </a:p>
        </p:txBody>
      </p:sp>
      <p:pic>
        <p:nvPicPr>
          <p:cNvPr id="5" name="Picture 4" descr="כלי עבודה בבנייה">
            <a:extLst>
              <a:ext uri="{FF2B5EF4-FFF2-40B4-BE49-F238E27FC236}">
                <a16:creationId xmlns:a16="http://schemas.microsoft.com/office/drawing/2014/main" id="{E31571D7-3902-D53D-A7AB-2EB5C18ED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82" r="29720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Motivation &amp; Use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Construction sites are dangerous environments.</a:t>
            </a:r>
          </a:p>
          <a:p>
            <a:pPr lvl="1"/>
            <a:r>
              <a:rPr lang="en-US" sz="1900" dirty="0"/>
              <a:t>Helmets are mandatory but not always used.</a:t>
            </a:r>
          </a:p>
          <a:p>
            <a:pPr lvl="1"/>
            <a:r>
              <a:rPr lang="en-US" sz="1900" dirty="0"/>
              <a:t>Safety officers cannot monitor all cameras manually.</a:t>
            </a:r>
          </a:p>
          <a:p>
            <a:pPr lvl="1"/>
            <a:r>
              <a:rPr lang="en-US" sz="1900" dirty="0"/>
              <a:t>Goal: automatic detection of unsafe images.</a:t>
            </a:r>
          </a:p>
          <a:p>
            <a:pPr lvl="1"/>
            <a:r>
              <a:rPr lang="en-US" sz="2000" dirty="0"/>
              <a:t>Target user: safety officer receiving automatic alerts.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Problem Definition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Input: image from a construction site.</a:t>
            </a:r>
          </a:p>
          <a:p>
            <a:pPr lvl="1"/>
            <a:r>
              <a:rPr lang="en-US" sz="1900"/>
              <a:t>Output: label - safe / unsafe.</a:t>
            </a:r>
          </a:p>
          <a:p>
            <a:pPr lvl="1"/>
            <a:r>
              <a:rPr lang="en-US" sz="1900"/>
              <a:t>Safe: all visible workers wear helmets.</a:t>
            </a:r>
          </a:p>
          <a:p>
            <a:pPr lvl="1"/>
            <a:r>
              <a:rPr lang="en-US" sz="1900"/>
              <a:t>Unsafe: at least one worker without helmet.</a:t>
            </a:r>
          </a:p>
          <a:p>
            <a:pPr lvl="1"/>
            <a:r>
              <a:rPr lang="en-US" sz="1900"/>
              <a:t>Binary image classification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Dataset: Synthetic +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Synthetic dataset: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~700 images generated with Stable Diffusion.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Manually cleaned into safe / unsafe.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Real dataset: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40 safe, 19 unsafe images from the web.</a:t>
            </a:r>
          </a:p>
          <a:p>
            <a:pPr lvl="1"/>
            <a:r>
              <a:rPr lang="en-US" sz="1600" dirty="0">
                <a:solidFill>
                  <a:schemeClr val="tx2"/>
                </a:solidFill>
              </a:rPr>
              <a:t>Real test set: 30 safe, 14 unsafe.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/>
              <a:t>Synthetic Data Generation (GenAI)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Diffusion model: Stable Diffusion (Colab pipeline).</a:t>
            </a:r>
          </a:p>
          <a:p>
            <a:pPr lvl="1"/>
            <a:r>
              <a:rPr lang="en-US" sz="1900"/>
              <a:t>Text prompts describe workers with or without helmets.</a:t>
            </a:r>
          </a:p>
          <a:p>
            <a:pPr lvl="1"/>
            <a:r>
              <a:rPr lang="en-US" sz="1900"/>
              <a:t>Negative prompts to avoid unrealistic images.</a:t>
            </a:r>
          </a:p>
          <a:p>
            <a:pPr lvl="1"/>
            <a:r>
              <a:rPr lang="en-US" sz="1900"/>
              <a:t>Manual review and cleaning of generated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Model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Backbone: ResNet18 pretrained on ImageNet.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Final layer replaced with 2-class head.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Input size: 224x224.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Data augmentation: crops, flips, color jitter.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Loss: cross-entropy, Optimizer: Adam (lr=1e-4).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Results on Real Test Images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704657"/>
              </p:ext>
            </p:extLst>
          </p:nvPr>
        </p:nvGraphicFramePr>
        <p:xfrm>
          <a:off x="482600" y="2270687"/>
          <a:ext cx="8178801" cy="320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1138">
                <a:tc>
                  <a:txBody>
                    <a:bodyPr/>
                    <a:lstStyle/>
                    <a:p>
                      <a:r>
                        <a:rPr lang="en-US" sz="2400"/>
                        <a:t>Experiment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 data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Real acc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Safe acc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Unsafe acc</a:t>
                      </a:r>
                    </a:p>
                  </a:txBody>
                  <a:tcPr marL="120424" marR="120424" marT="60212" marB="60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66">
                <a:tc>
                  <a:txBody>
                    <a:bodyPr/>
                    <a:lstStyle/>
                    <a:p>
                      <a:r>
                        <a:rPr lang="he-IL" sz="2400"/>
                        <a:t>1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Synthetic only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/>
                        <a:t>31.5%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/>
                        <a:t>12.5%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/>
                        <a:t>85.7%</a:t>
                      </a:r>
                    </a:p>
                  </a:txBody>
                  <a:tcPr marL="120424" marR="120424" marT="60212" marB="60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138">
                <a:tc>
                  <a:txBody>
                    <a:bodyPr/>
                    <a:lstStyle/>
                    <a:p>
                      <a:r>
                        <a:rPr lang="he-IL" sz="2400"/>
                        <a:t>2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Synth + few real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 dirty="0"/>
                        <a:t>63.6%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/>
                        <a:t>76.7%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/>
                        <a:t>35.7%</a:t>
                      </a:r>
                    </a:p>
                  </a:txBody>
                  <a:tcPr marL="120424" marR="120424" marT="60212" marB="602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138">
                <a:tc>
                  <a:txBody>
                    <a:bodyPr/>
                    <a:lstStyle/>
                    <a:p>
                      <a:r>
                        <a:rPr lang="he-IL" sz="2400"/>
                        <a:t>3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Synth + real (oversampled)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 dirty="0"/>
                        <a:t>52.3%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 dirty="0"/>
                        <a:t>56.7%</a:t>
                      </a:r>
                    </a:p>
                  </a:txBody>
                  <a:tcPr marL="120424" marR="120424" marT="60212" marB="60212"/>
                </a:tc>
                <a:tc>
                  <a:txBody>
                    <a:bodyPr/>
                    <a:lstStyle/>
                    <a:p>
                      <a:r>
                        <a:rPr lang="he-IL" sz="2400" dirty="0"/>
                        <a:t>42.9%</a:t>
                      </a:r>
                    </a:p>
                  </a:txBody>
                  <a:tcPr marL="120424" marR="120424" marT="60212" marB="602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BED8BF3-EA64-2058-4AA0-9C2B2BC091A1}"/>
              </a:ext>
            </a:extLst>
          </p:cNvPr>
          <p:cNvSpPr txBox="1"/>
          <p:nvPr/>
        </p:nvSpPr>
        <p:spPr>
          <a:xfrm>
            <a:off x="850392" y="5961888"/>
            <a:ext cx="393736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-Results may vary slightly between runs.</a:t>
            </a:r>
            <a:endParaRPr lang="he-I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Example Predictions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Correct safe prediction.</a:t>
            </a:r>
          </a:p>
          <a:p>
            <a:pPr lvl="1"/>
            <a:r>
              <a:rPr lang="en-US" sz="1900"/>
              <a:t>Correct unsafe prediction.</a:t>
            </a:r>
          </a:p>
          <a:p>
            <a:pPr lvl="1"/>
            <a:r>
              <a:rPr lang="en-US" sz="1900"/>
              <a:t>Failure case example.</a:t>
            </a:r>
          </a:p>
          <a:p>
            <a:pPr lvl="1"/>
            <a:r>
              <a:rPr lang="en-US" sz="1900"/>
              <a:t>Model focuses on helmet shape and color.</a:t>
            </a:r>
          </a:p>
          <a:p>
            <a:pPr lvl="1"/>
            <a:r>
              <a:rPr lang="en-US" sz="1900"/>
              <a:t>Typical errors: crowded scenes, occlusions.</a:t>
            </a:r>
          </a:p>
        </p:txBody>
      </p:sp>
      <p:pic>
        <p:nvPicPr>
          <p:cNvPr id="5" name="תמונה 4" descr="תמונה שמכילה לבוש, אדם, בגדים עם נראות גבוהה, קסדה">
            <a:extLst>
              <a:ext uri="{FF2B5EF4-FFF2-40B4-BE49-F238E27FC236}">
                <a16:creationId xmlns:a16="http://schemas.microsoft.com/office/drawing/2014/main" id="{776B06F7-874A-BE8A-BB46-156E4F92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7" r="698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Discussion &amp; Limitations</a:t>
            </a:r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r>
              <a:rPr lang="en-US" sz="1700" dirty="0"/>
              <a:t>Synthetic-only model does not generalize well to real images.</a:t>
            </a:r>
          </a:p>
          <a:p>
            <a:pPr lvl="1"/>
            <a:r>
              <a:rPr lang="en-US" sz="1700" dirty="0"/>
              <a:t>Small real dataset has a large impact on performance.</a:t>
            </a:r>
          </a:p>
          <a:p>
            <a:pPr lvl="1"/>
            <a:r>
              <a:rPr lang="en-US" sz="1700" dirty="0"/>
              <a:t>Tradeoff between false alarms and dangerous misses.</a:t>
            </a:r>
          </a:p>
          <a:p>
            <a:pPr lvl="1"/>
            <a:r>
              <a:rPr lang="en-US" sz="1700" dirty="0"/>
              <a:t>No localization of individual workers.</a:t>
            </a:r>
          </a:p>
          <a:p>
            <a:pPr lvl="1"/>
            <a:r>
              <a:rPr lang="en-US" sz="1800" dirty="0"/>
              <a:t>Very small real test set (30 safe, 14 unsafe).</a:t>
            </a:r>
          </a:p>
          <a:p>
            <a:pPr lvl="1"/>
            <a:endParaRPr lang="en-US" sz="17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r>
              <a:rPr lang="en-US" sz="430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882315"/>
            <a:ext cx="3941065" cy="5294647"/>
          </a:xfrm>
        </p:spPr>
        <p:txBody>
          <a:bodyPr>
            <a:normAutofit/>
          </a:bodyPr>
          <a:lstStyle/>
          <a:p>
            <a:r>
              <a:rPr lang="en-US" sz="1900"/>
              <a:t>HelmetGuard: image-based safety classifier.</a:t>
            </a:r>
          </a:p>
          <a:p>
            <a:pPr lvl="1"/>
            <a:r>
              <a:rPr lang="en-US" sz="1900"/>
              <a:t>Synthetic data useful for bootstrapping.</a:t>
            </a:r>
          </a:p>
          <a:p>
            <a:pPr lvl="1"/>
            <a:r>
              <a:rPr lang="en-US" sz="1900"/>
              <a:t>Real data is essential for deployment.</a:t>
            </a:r>
          </a:p>
          <a:p>
            <a:pPr lvl="1"/>
            <a:r>
              <a:rPr lang="en-US" sz="1900"/>
              <a:t>Future work: more real data, better losses, object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411</Words>
  <Application>Microsoft Office PowerPoint</Application>
  <PresentationFormat>‫הצגה על המסך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HelmetGuard: Safety Classification of Construction Site Images</vt:lpstr>
      <vt:lpstr>Motivation &amp; Use Case</vt:lpstr>
      <vt:lpstr>Problem Definition</vt:lpstr>
      <vt:lpstr>Dataset: Synthetic + Real</vt:lpstr>
      <vt:lpstr>Synthetic Data Generation (GenAI)</vt:lpstr>
      <vt:lpstr>Model &amp; Training</vt:lpstr>
      <vt:lpstr>Results on Real Test Images</vt:lpstr>
      <vt:lpstr>Example Predictions</vt:lpstr>
      <vt:lpstr>Discussion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</dc:creator>
  <cp:keywords/>
  <dc:description>generated using python-pptx</dc:description>
  <cp:lastModifiedBy>Dan Koenkas</cp:lastModifiedBy>
  <cp:revision>4</cp:revision>
  <dcterms:created xsi:type="dcterms:W3CDTF">2013-01-27T09:14:16Z</dcterms:created>
  <dcterms:modified xsi:type="dcterms:W3CDTF">2025-12-31T17:33:49Z</dcterms:modified>
  <cp:category/>
</cp:coreProperties>
</file>